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speaker notes can be expanded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speaker notes can be expanded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speaker notes can be expanded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speaker notes can be expanded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speaker notes can be expanded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speaker notes can be expanded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speaker notes can be expanded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speaker notes can be expanded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speaker notes can be expanded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speaker notes can be expanded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speaker notes can be expanded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speaker notes can be expanded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speaker notes can be expanded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speaker notes can be expanded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speaker notes can be expanded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6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438912"/>
          </a:xfrm>
          <a:prstGeom prst="rect">
            <a:avLst/>
          </a:prstGeom>
          <a:solidFill>
            <a:srgbClr val="11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2144"/>
                </a:solidFill>
              </a:rPr>
              <a:t>GenAI for Frontend Engineers</a:t>
            </a:r>
          </a:p>
          <a:p>
            <a:r>
              <a:rPr sz="1200">
                <a:solidFill>
                  <a:srgbClr val="7E8FAA"/>
                </a:solidFill>
              </a:rPr>
              <a:t>A Practical Case Study on AI-Augmented Frontend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029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12144"/>
                </a:solidFill>
              </a:defRPr>
            </a:pPr>
            <a:r>
              <a:t>Prepared by: Jyotir</a:t>
            </a:r>
          </a:p>
          <a:p>
            <a:pPr>
              <a:defRPr sz="1600" b="0">
                <a:solidFill>
                  <a:srgbClr val="7E8FAA"/>
                </a:solidFill>
              </a:defRPr>
            </a:pPr>
            <a:r>
              <a:t>Homework / Case Study Presentation</a:t>
            </a:r>
          </a:p>
          <a:p>
            <a:pPr>
              <a:defRPr sz="1700" b="1">
                <a:solidFill>
                  <a:srgbClr val="112144"/>
                </a:solidFill>
              </a:defRPr>
            </a:pPr>
            <a:r>
              <a:t>Focus Areas</a:t>
            </a:r>
          </a:p>
          <a:p>
            <a:pPr>
              <a:defRPr sz="1600" b="0">
                <a:solidFill>
                  <a:srgbClr val="344259"/>
                </a:solidFill>
              </a:defRPr>
            </a:pPr>
            <a:r>
              <a:t>• Prompt engineering</a:t>
            </a:r>
            <a:br/>
            <a:r>
              <a:t>• UI/UX ideation</a:t>
            </a:r>
            <a:br/>
            <a:r>
              <a:t>• AI-assisted coding</a:t>
            </a:r>
            <a:br/>
            <a:r>
              <a:t>• Testing, docs, and CI/CD</a:t>
            </a:r>
          </a:p>
        </p:txBody>
      </p:sp>
      <p:pic>
        <p:nvPicPr>
          <p:cNvPr id="6" name="Picture 5" descr="chat_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417320"/>
            <a:ext cx="5394960" cy="30346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6126480"/>
            <a:ext cx="10972800" cy="384048"/>
          </a:xfrm>
          <a:prstGeom prst="roundRect">
            <a:avLst/>
          </a:prstGeom>
          <a:solidFill>
            <a:srgbClr val="ECF2F9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E8FAA"/>
                </a:solidFill>
              </a:defRPr>
            </a:pPr>
            <a:r>
              <a:t>Corporate-style deck with screenshot-style visuals and milestone deliverables included.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6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438912"/>
          </a:xfrm>
          <a:prstGeom prst="rect">
            <a:avLst/>
          </a:prstGeom>
          <a:solidFill>
            <a:srgbClr val="11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2144"/>
                </a:solidFill>
              </a:rPr>
              <a:t>Objective of the Program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94960" cy="4023360"/>
          </a:xfrm>
          <a:prstGeom prst="roundRect">
            <a:avLst/>
          </a:prstGeom>
          <a:solidFill>
            <a:srgbClr val="EBF7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2144"/>
                </a:solidFill>
              </a:defRPr>
            </a:pPr>
            <a:r>
              <a:t>Primary Goals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Enable frontend engineers to use GenAI tools effectively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Increase productivity and improve code quality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Accelerate design-to-development workflows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Automate repetitive engineering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394960" cy="4023360"/>
          </a:xfrm>
          <a:prstGeom prst="roundRect">
            <a:avLst/>
          </a:prstGeom>
          <a:solidFill>
            <a:srgbClr val="F1FAF5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2144"/>
                </a:solidFill>
              </a:defRPr>
            </a:pPr>
            <a:r>
              <a:t>Expected Impact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Faster component and CRUD development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Better documentation and test coverage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More consistent accessibility practices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Structured AI-assisted engineering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6126480"/>
            <a:ext cx="10972800" cy="384048"/>
          </a:xfrm>
          <a:prstGeom prst="roundRect">
            <a:avLst/>
          </a:prstGeom>
          <a:solidFill>
            <a:srgbClr val="ECF2F9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E8FAA"/>
                </a:solidFill>
              </a:defRPr>
            </a:pPr>
            <a:r>
              <a:t>The objective is systematic AI adoption in frontend engineering — not one-off code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6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438912"/>
          </a:xfrm>
          <a:prstGeom prst="rect">
            <a:avLst/>
          </a:prstGeom>
          <a:solidFill>
            <a:srgbClr val="11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2144"/>
                </a:solidFill>
              </a:rPr>
              <a:t>Why Frontend Engineers Need GenAI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Repetitive UI work reduces time for real problem-solving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Debugging APIs, state, and rendering issues is time-intensive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Design handoff to code is often slow or inconsistent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Documentation and testing are commonly delayed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CI/CD setup requires careful manual effort</a:t>
            </a:r>
          </a:p>
        </p:txBody>
      </p:sp>
      <p:pic>
        <p:nvPicPr>
          <p:cNvPr id="6" name="Picture 5" descr="figma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554480"/>
            <a:ext cx="5303520" cy="29832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6126480"/>
            <a:ext cx="10972800" cy="384048"/>
          </a:xfrm>
          <a:prstGeom prst="roundRect">
            <a:avLst/>
          </a:prstGeom>
          <a:solidFill>
            <a:srgbClr val="ECF2F9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E8FAA"/>
                </a:solidFill>
              </a:defRPr>
            </a:pPr>
            <a:r>
              <a:t>GenAI helps reduce engineering friction across design, coding, testing, documentation, and delivery.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6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438912"/>
          </a:xfrm>
          <a:prstGeom prst="rect">
            <a:avLst/>
          </a:prstGeom>
          <a:solidFill>
            <a:srgbClr val="11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2144"/>
                </a:solidFill>
              </a:rPr>
              <a:t>GenAI-Based Solution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2144"/>
                </a:solidFill>
              </a:defRPr>
            </a:pPr>
            <a:r>
              <a:t>Prompt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246888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2144"/>
                </a:solidFill>
              </a:defRPr>
            </a:pPr>
            <a:r>
              <a:t>Design Ideation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246888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2144"/>
                </a:solidFill>
              </a:defRPr>
            </a:pPr>
            <a:r>
              <a:t>Code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246888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2144"/>
                </a:solidFill>
              </a:defRPr>
            </a:pPr>
            <a:r>
              <a:t>Testing &amp; Docs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46888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2144"/>
                </a:solidFill>
              </a:defRPr>
            </a:pPr>
            <a:r>
              <a:t>CI/CD Support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926080"/>
            <a:ext cx="182880" cy="0"/>
          </a:xfrm>
          <a:prstGeom prst="line">
            <a:avLst/>
          </a:prstGeom>
          <a:ln w="25400">
            <a:solidFill>
              <a:srgbClr val="36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63440" y="2926080"/>
            <a:ext cx="274320" cy="0"/>
          </a:xfrm>
          <a:prstGeom prst="line">
            <a:avLst/>
          </a:prstGeom>
          <a:ln w="25400">
            <a:solidFill>
              <a:srgbClr val="36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766560" y="2926080"/>
            <a:ext cx="274320" cy="0"/>
          </a:xfrm>
          <a:prstGeom prst="line">
            <a:avLst/>
          </a:prstGeom>
          <a:ln w="25400">
            <a:solidFill>
              <a:srgbClr val="36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69680" y="2926080"/>
            <a:ext cx="274320" cy="0"/>
          </a:xfrm>
          <a:prstGeom prst="line">
            <a:avLst/>
          </a:prstGeom>
          <a:ln w="25400">
            <a:solidFill>
              <a:srgbClr val="36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931920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344259"/>
                </a:solidFill>
              </a:defRPr>
            </a:pPr>
            <a:r>
              <a:t>Structured prompts guide the AI effectively</a:t>
            </a:r>
          </a:p>
          <a:p>
            <a:pPr>
              <a:spcAft>
                <a:spcPts val="900"/>
              </a:spcAft>
              <a:defRPr sz="1700">
                <a:solidFill>
                  <a:srgbClr val="344259"/>
                </a:solidFill>
              </a:defRPr>
            </a:pPr>
            <a:r>
              <a:t>Design tools help ideate and convert layouts into code</a:t>
            </a:r>
          </a:p>
          <a:p>
            <a:pPr>
              <a:spcAft>
                <a:spcPts val="900"/>
              </a:spcAft>
              <a:defRPr sz="1700">
                <a:solidFill>
                  <a:srgbClr val="344259"/>
                </a:solidFill>
              </a:defRPr>
            </a:pPr>
            <a:r>
              <a:t>Copilot and chat tools scaffold and refactor code</a:t>
            </a:r>
          </a:p>
          <a:p>
            <a:pPr>
              <a:spcAft>
                <a:spcPts val="900"/>
              </a:spcAft>
              <a:defRPr sz="1700">
                <a:solidFill>
                  <a:srgbClr val="344259"/>
                </a:solidFill>
              </a:defRPr>
            </a:pPr>
            <a:r>
              <a:t>AI supports tests, docs, performance, and deployment workflows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6126480"/>
            <a:ext cx="10972800" cy="384048"/>
          </a:xfrm>
          <a:prstGeom prst="roundRect">
            <a:avLst/>
          </a:prstGeom>
          <a:solidFill>
            <a:srgbClr val="ECF2F9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E8FAA"/>
                </a:solidFill>
              </a:defRPr>
            </a:pPr>
            <a:r>
              <a:t>The workflow spans the full frontend lifecycle from ideation to deployment readiness.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6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438912"/>
          </a:xfrm>
          <a:prstGeom prst="rect">
            <a:avLst/>
          </a:prstGeom>
          <a:solidFill>
            <a:srgbClr val="11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2144"/>
                </a:solidFill>
              </a:rPr>
              <a:t>Tools Used in the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2144"/>
                </a:solidFill>
              </a:defRPr>
            </a:pPr>
            <a:r>
              <a:t>Coding AI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ChatGPT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GitHub Copilot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Gemini / Claude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645920"/>
            <a:ext cx="51206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2144"/>
                </a:solidFill>
              </a:defRPr>
            </a:pPr>
            <a:r>
              <a:t>Design AI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Figma AI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Locofy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Uizard / Anima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51206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2144"/>
                </a:solidFill>
              </a:defRPr>
            </a:pPr>
            <a:r>
              <a:t>Quality Tools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Lighthouse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axe DevTools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Mintlify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3566160"/>
            <a:ext cx="51206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2144"/>
                </a:solidFill>
              </a:defRPr>
            </a:pPr>
            <a:r>
              <a:t>Delivery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GitHub Actions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Docker tooling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PR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E8FAA"/>
                </a:solidFill>
              </a:defRPr>
            </a:pPr>
            <a:r>
              <a:t>Each tool handles a specific part of the workflow; together they create an AI-augmented frontend stack.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6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438912"/>
          </a:xfrm>
          <a:prstGeom prst="rect">
            <a:avLst/>
          </a:prstGeom>
          <a:solidFill>
            <a:srgbClr val="11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2144"/>
                </a:solidFill>
              </a:rPr>
              <a:t>Milestone 1 — Prompt Engineering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Understand LLM behavior and prompt interpretation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Use context → role → intent → format structure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Add examples and constraints to improve output quality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Iteratively refine prompts instead of relying on one-shot output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Compare direct prompts with chain-of-thought style prompting</a:t>
            </a:r>
          </a:p>
        </p:txBody>
      </p:sp>
      <p:pic>
        <p:nvPicPr>
          <p:cNvPr id="6" name="Picture 5" descr="chat_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54480"/>
            <a:ext cx="5394960" cy="30346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6126480"/>
            <a:ext cx="10972800" cy="384048"/>
          </a:xfrm>
          <a:prstGeom prst="roundRect">
            <a:avLst/>
          </a:prstGeom>
          <a:solidFill>
            <a:srgbClr val="ECF2F9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E8FAA"/>
                </a:solidFill>
              </a:defRPr>
            </a:pPr>
            <a:r>
              <a:t>This milestone establishes the foundation for all later AI-assisted engineering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6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438912"/>
          </a:xfrm>
          <a:prstGeom prst="rect">
            <a:avLst/>
          </a:prstGeom>
          <a:solidFill>
            <a:srgbClr val="11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2144"/>
                </a:solidFill>
              </a:rPr>
              <a:t>Milestone 1 Deliverable — Shared Prompt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20+ prompt templates created for repeatable frontend tasks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Covers UI generation, accessibility, refactoring, docs, testing, and CI/CD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Improves consistency and reduces prompt-writing overhead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Acts as a reusable team asset for AI-assisted development</a:t>
            </a:r>
          </a:p>
        </p:txBody>
      </p:sp>
      <p:pic>
        <p:nvPicPr>
          <p:cNvPr id="6" name="Picture 5" descr="prompt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08760"/>
            <a:ext cx="5394960" cy="30346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6126480"/>
            <a:ext cx="10972800" cy="384048"/>
          </a:xfrm>
          <a:prstGeom prst="roundRect">
            <a:avLst/>
          </a:prstGeom>
          <a:solidFill>
            <a:srgbClr val="ECF2F9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E8FAA"/>
                </a:solidFill>
              </a:defRPr>
            </a:pPr>
            <a:r>
              <a:t>Deliverable screenshot: organized prompt library used as a shared engineering resource.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6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438912"/>
          </a:xfrm>
          <a:prstGeom prst="rect">
            <a:avLst/>
          </a:prstGeom>
          <a:solidFill>
            <a:srgbClr val="11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2144"/>
                </a:solidFill>
              </a:rPr>
              <a:t>Milestone 2 — AI for UI/UX Ideation and Frontend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Generate dashboard layouts, copy, and color ideas with AI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Convert design descriptions and wireframes into frontend code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Use Copilot to scaffold components and repetitive logic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Refactor generated code into modular, typed files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Keep accessibility and responsiveness as requirements from the start</a:t>
            </a:r>
          </a:p>
        </p:txBody>
      </p:sp>
      <p:pic>
        <p:nvPicPr>
          <p:cNvPr id="6" name="Picture 5" descr="figma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508760"/>
            <a:ext cx="5303520" cy="29832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6126480"/>
            <a:ext cx="10972800" cy="384048"/>
          </a:xfrm>
          <a:prstGeom prst="roundRect">
            <a:avLst/>
          </a:prstGeom>
          <a:solidFill>
            <a:srgbClr val="ECF2F9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E8FAA"/>
                </a:solidFill>
              </a:defRPr>
            </a:pPr>
            <a:r>
              <a:t>AI helps compress the design-to-development cycle while keeping engineering constraints explicit.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6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438912"/>
          </a:xfrm>
          <a:prstGeom prst="rect">
            <a:avLst/>
          </a:prstGeom>
          <a:solidFill>
            <a:srgbClr val="11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2144"/>
                </a:solidFill>
              </a:rPr>
              <a:t>Milestone 2 Deliverable — Metadata-Driven CRUD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Input: JSON schema defining fields, types, labels, and validation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Output: generated form, table, service layer, hooks, types, and tests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Ideal for admin dashboards and internal tools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Demonstrates AI-assisted maintainable frontend architecture</a:t>
            </a:r>
          </a:p>
        </p:txBody>
      </p:sp>
      <p:pic>
        <p:nvPicPr>
          <p:cNvPr id="6" name="Picture 5" descr="crud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5440680" cy="306038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6126480"/>
            <a:ext cx="10972800" cy="384048"/>
          </a:xfrm>
          <a:prstGeom prst="roundRect">
            <a:avLst/>
          </a:prstGeom>
          <a:solidFill>
            <a:srgbClr val="ECF2F9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E8FAA"/>
                </a:solidFill>
              </a:defRPr>
            </a:pPr>
            <a:r>
              <a:t>Deliverable screenshot: metadata-driven CRUD UI generated mostly through AI-guided workflow.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6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438912"/>
          </a:xfrm>
          <a:prstGeom prst="rect">
            <a:avLst/>
          </a:prstGeom>
          <a:solidFill>
            <a:srgbClr val="11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2144"/>
                </a:solidFill>
              </a:rPr>
              <a:t>Milestone 3 — Documentation, QA and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Generate README files, TSDoc/JSDoc, and architecture summaries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Create unit and E2E test cases for frontend flows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Analyze Lighthouse and accessibility findings with AI support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Convert raw reports into prioritized remediation tasks</a:t>
            </a:r>
          </a:p>
        </p:txBody>
      </p:sp>
      <p:pic>
        <p:nvPicPr>
          <p:cNvPr id="6" name="Picture 5" descr="qa_su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36192"/>
            <a:ext cx="5394960" cy="30346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6126480"/>
            <a:ext cx="10972800" cy="384048"/>
          </a:xfrm>
          <a:prstGeom prst="roundRect">
            <a:avLst/>
          </a:prstGeom>
          <a:solidFill>
            <a:srgbClr val="ECF2F9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E8FAA"/>
                </a:solidFill>
              </a:defRPr>
            </a:pPr>
            <a:r>
              <a:t>Milestone focus: quality engineering tasks that teams often delay due to time pressure.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6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438912"/>
          </a:xfrm>
          <a:prstGeom prst="rect">
            <a:avLst/>
          </a:prstGeom>
          <a:solidFill>
            <a:srgbClr val="11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2144"/>
                </a:solidFill>
              </a:rPr>
              <a:t>Milestone 3 Deliverable — AI-Assisted QA &amp; Optimization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4754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2144"/>
                </a:solidFill>
              </a:defRPr>
            </a:pPr>
            <a:r>
              <a:t>Report Includes</a:t>
            </a:r>
          </a:p>
          <a:p>
            <a:pPr>
              <a:defRPr sz="1600">
                <a:solidFill>
                  <a:srgbClr val="344259"/>
                </a:solidFill>
              </a:defRPr>
            </a:pPr>
            <a:r>
              <a:t>Auto-generated test suite</a:t>
            </a:r>
          </a:p>
          <a:p>
            <a:pPr>
              <a:defRPr sz="1600">
                <a:solidFill>
                  <a:srgbClr val="344259"/>
                </a:solidFill>
              </a:defRPr>
            </a:pPr>
            <a:r>
              <a:t>Lighthouse findings + fixes</a:t>
            </a:r>
          </a:p>
          <a:p>
            <a:pPr>
              <a:defRPr sz="1600">
                <a:solidFill>
                  <a:srgbClr val="344259"/>
                </a:solidFill>
              </a:defRPr>
            </a:pPr>
            <a:r>
              <a:t>Accessibility observations</a:t>
            </a:r>
          </a:p>
          <a:p>
            <a:pPr>
              <a:defRPr sz="1600">
                <a:solidFill>
                  <a:srgbClr val="344259"/>
                </a:solidFill>
              </a:defRPr>
            </a:pPr>
            <a:r>
              <a:t>Documentation summary</a:t>
            </a:r>
          </a:p>
          <a:p>
            <a:pPr>
              <a:defRPr sz="1600">
                <a:solidFill>
                  <a:srgbClr val="344259"/>
                </a:solidFill>
              </a:defRPr>
            </a:pPr>
            <a:r>
              <a:t>Prioritized remediation actions</a:t>
            </a:r>
          </a:p>
        </p:txBody>
      </p:sp>
      <p:pic>
        <p:nvPicPr>
          <p:cNvPr id="6" name="Picture 5" descr="qa_su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486400" cy="30861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6126480"/>
            <a:ext cx="10972800" cy="384048"/>
          </a:xfrm>
          <a:prstGeom prst="roundRect">
            <a:avLst/>
          </a:prstGeom>
          <a:solidFill>
            <a:srgbClr val="ECF2F9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E8FAA"/>
                </a:solidFill>
              </a:defRPr>
            </a:pPr>
            <a:r>
              <a:t>Deliverable screenshot: QA and optimization package generated with AI assistance and human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6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438912"/>
          </a:xfrm>
          <a:prstGeom prst="rect">
            <a:avLst/>
          </a:prstGeom>
          <a:solidFill>
            <a:srgbClr val="11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2144"/>
                </a:solidFill>
              </a:rPr>
              <a:t>Milestone 4 — DevOps, CI/CD and Continuous Upskilling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Generate GitHub Actions YAML for pull request pipelines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Create Dockerfiles and build scripts with explicit constraints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Use AI for PR summaries, review assistance, and changelogs</a:t>
            </a:r>
          </a:p>
          <a:p>
            <a:pPr>
              <a:spcAft>
                <a:spcPts val="900"/>
              </a:spcAft>
              <a:defRPr sz="1800">
                <a:solidFill>
                  <a:srgbClr val="344259"/>
                </a:solidFill>
              </a:defRPr>
            </a:pPr>
            <a:r>
              <a:t>Build a personal AI-assisted workflow for continuous learning</a:t>
            </a:r>
          </a:p>
        </p:txBody>
      </p:sp>
      <p:pic>
        <p:nvPicPr>
          <p:cNvPr id="6" name="Picture 5" descr="cicd_y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36192"/>
            <a:ext cx="5394960" cy="30346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6126480"/>
            <a:ext cx="10972800" cy="384048"/>
          </a:xfrm>
          <a:prstGeom prst="roundRect">
            <a:avLst/>
          </a:prstGeom>
          <a:solidFill>
            <a:srgbClr val="ECF2F9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E8FAA"/>
                </a:solidFill>
              </a:defRPr>
            </a:pPr>
            <a:r>
              <a:t>AI extends beyond coding into delivery automation and developer productivity workflows.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6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438912"/>
          </a:xfrm>
          <a:prstGeom prst="rect">
            <a:avLst/>
          </a:prstGeom>
          <a:solidFill>
            <a:srgbClr val="11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2144"/>
                </a:solidFill>
              </a:rPr>
              <a:t>Milestone 4 Deliverable — AI-Augmented Frontend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4663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2144"/>
                </a:solidFill>
              </a:defRPr>
            </a:pPr>
            <a:r>
              <a:t>Final Workflow Includes</a:t>
            </a:r>
          </a:p>
          <a:p>
            <a:pPr>
              <a:defRPr sz="1600">
                <a:solidFill>
                  <a:srgbClr val="344259"/>
                </a:solidFill>
              </a:defRPr>
            </a:pPr>
            <a:r>
              <a:t>1 code automation use case</a:t>
            </a:r>
          </a:p>
          <a:p>
            <a:pPr>
              <a:defRPr sz="1600">
                <a:solidFill>
                  <a:srgbClr val="344259"/>
                </a:solidFill>
              </a:defRPr>
            </a:pPr>
            <a:r>
              <a:t>1 UI/UX generation task</a:t>
            </a:r>
          </a:p>
          <a:p>
            <a:pPr>
              <a:defRPr sz="1600">
                <a:solidFill>
                  <a:srgbClr val="344259"/>
                </a:solidFill>
              </a:defRPr>
            </a:pPr>
            <a:r>
              <a:t>1 testing / documentation example</a:t>
            </a:r>
          </a:p>
          <a:p>
            <a:pPr>
              <a:defRPr sz="1600">
                <a:solidFill>
                  <a:srgbClr val="344259"/>
                </a:solidFill>
              </a:defRPr>
            </a:pPr>
            <a:r>
              <a:t>1 CI/CD automation prompt</a:t>
            </a:r>
          </a:p>
          <a:p>
            <a:pPr>
              <a:defRPr sz="1600">
                <a:solidFill>
                  <a:srgbClr val="344259"/>
                </a:solidFill>
              </a:defRPr>
            </a:pPr>
            <a:r>
              <a:t>Human review checklist before merge</a:t>
            </a:r>
          </a:p>
        </p:txBody>
      </p:sp>
      <p:pic>
        <p:nvPicPr>
          <p:cNvPr id="6" name="Picture 5" descr="redflags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00200"/>
            <a:ext cx="5577840" cy="313753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6126480"/>
            <a:ext cx="10972800" cy="384048"/>
          </a:xfrm>
          <a:prstGeom prst="roundRect">
            <a:avLst/>
          </a:prstGeom>
          <a:solidFill>
            <a:srgbClr val="ECF2F9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E8FAA"/>
                </a:solidFill>
              </a:defRPr>
            </a:pPr>
            <a:r>
              <a:t>Deliverable screenshot: workflow output plus review guardrails for safe AI adoption.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6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438912"/>
          </a:xfrm>
          <a:prstGeom prst="rect">
            <a:avLst/>
          </a:prstGeom>
          <a:solidFill>
            <a:srgbClr val="11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2144"/>
                </a:solidFill>
              </a:rPr>
              <a:t>Best Practices and Program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94960" cy="4023360"/>
          </a:xfrm>
          <a:prstGeom prst="roundRect">
            <a:avLst/>
          </a:prstGeom>
          <a:solidFill>
            <a:srgbClr val="EBF7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2144"/>
                </a:solidFill>
              </a:defRPr>
            </a:pPr>
            <a:r>
              <a:t>Best Practices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Be explicit about role, context, task, constraints, and output format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Ask for tests, examples, and TypeScript interfaces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Keep prompts scoped to one problem at a time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Review, lint, and test all AI-generated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394960" cy="4023360"/>
          </a:xfrm>
          <a:prstGeom prst="roundRect">
            <a:avLst/>
          </a:prstGeom>
          <a:solidFill>
            <a:srgbClr val="F1FAF5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2144"/>
                </a:solidFill>
              </a:defRPr>
            </a:pPr>
            <a:r>
              <a:t>Program Outcomes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Faster frontend coding and design execution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Improved documentation and test coverage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Better use of AI in CI/CD and code review</a:t>
            </a:r>
          </a:p>
          <a:p>
            <a:pPr>
              <a:defRPr sz="1500">
                <a:solidFill>
                  <a:srgbClr val="344259"/>
                </a:solidFill>
              </a:defRPr>
            </a:pPr>
            <a:r>
              <a:t>A repeatable AI-augmented engineering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6126480"/>
            <a:ext cx="10972800" cy="384048"/>
          </a:xfrm>
          <a:prstGeom prst="roundRect">
            <a:avLst/>
          </a:prstGeom>
          <a:solidFill>
            <a:srgbClr val="ECF2F9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E8FAA"/>
                </a:solidFill>
              </a:defRPr>
            </a:pPr>
            <a:r>
              <a:t>The value comes from disciplined usage patterns, not just access to the tools.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6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438912"/>
          </a:xfrm>
          <a:prstGeom prst="rect">
            <a:avLst/>
          </a:prstGeom>
          <a:solidFill>
            <a:srgbClr val="11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2144"/>
                </a:solidFill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2412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12144"/>
                </a:solidFill>
              </a:defRPr>
            </a:pPr>
            <a:r>
              <a:t>GenAI does not replace frontend engineers — it amplifies productivity, quality, and delivery speed when guided by strong prompts and responsible review.</a:t>
            </a:r>
          </a:p>
          <a:p>
            <a:pPr algn="ctr">
              <a:defRPr sz="1700">
                <a:solidFill>
                  <a:srgbClr val="7E8FAA"/>
                </a:solidFill>
              </a:defRPr>
            </a:pPr>
            <a:r>
              <a:t>Skilled engineers who can collaborate effectively with AI will build faster, document better, test more thoroughly, and deliver with greater confidence.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6126480"/>
            <a:ext cx="10972800" cy="384048"/>
          </a:xfrm>
          <a:prstGeom prst="roundRect">
            <a:avLst/>
          </a:prstGeom>
          <a:solidFill>
            <a:srgbClr val="ECF2F9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E8FAA"/>
                </a:solidFill>
              </a:defRPr>
            </a:pPr>
            <a:r>
              <a:t>End state: an AI-augmented frontend engineer with structured workflows and human-in-the-loop discipline.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